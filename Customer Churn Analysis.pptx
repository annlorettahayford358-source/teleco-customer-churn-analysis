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image" Target="../media/image-4-11.png"/><Relationship Id="rId12" Type="http://schemas.openxmlformats.org/officeDocument/2006/relationships/image" Target="../media/image-4-12.png"/><Relationship Id="rId13" Type="http://schemas.openxmlformats.org/officeDocument/2006/relationships/image" Target="../media/image-4-13.png"/><Relationship Id="rId14" Type="http://schemas.openxmlformats.org/officeDocument/2006/relationships/image" Target="../media/image-4-14.pn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image" Target="../media/image-5-11.png"/><Relationship Id="rId12" Type="http://schemas.openxmlformats.org/officeDocument/2006/relationships/image" Target="../media/image-5-12.png"/><Relationship Id="rId13" Type="http://schemas.openxmlformats.org/officeDocument/2006/relationships/image" Target="../media/image-5-13.png"/><Relationship Id="rId14" Type="http://schemas.openxmlformats.org/officeDocument/2006/relationships/image" Target="../media/image-5-14.png"/><Relationship Id="rId15" Type="http://schemas.openxmlformats.org/officeDocument/2006/relationships/image" Target="../media/image-5-15.png"/><Relationship Id="rId16" Type="http://schemas.openxmlformats.org/officeDocument/2006/relationships/image" Target="../media/image-5-16.png"/><Relationship Id="rId17" Type="http://schemas.openxmlformats.org/officeDocument/2006/relationships/image" Target="../media/image-5-17.png"/><Relationship Id="rId18" Type="http://schemas.openxmlformats.org/officeDocument/2006/relationships/image" Target="../media/image-5-18.png"/><Relationship Id="rId19" Type="http://schemas.openxmlformats.org/officeDocument/2006/relationships/image" Target="../media/image-5-19.png"/><Relationship Id="rId20" Type="http://schemas.openxmlformats.org/officeDocument/2006/relationships/image" Target="../media/image-5-20.png"/><Relationship Id="rId21" Type="http://schemas.openxmlformats.org/officeDocument/2006/relationships/image" Target="../media/image-5-21.png"/><Relationship Id="rId22" Type="http://schemas.openxmlformats.org/officeDocument/2006/relationships/slideLayout" Target="../slideLayouts/slideLayout1.xml"/><Relationship Id="rId2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image" Target="../media/image-6-11.png"/><Relationship Id="rId12" Type="http://schemas.openxmlformats.org/officeDocument/2006/relationships/image" Target="../media/image-6-12.png"/><Relationship Id="rId13" Type="http://schemas.openxmlformats.org/officeDocument/2006/relationships/image" Target="../media/image-6-13.png"/><Relationship Id="rId14" Type="http://schemas.openxmlformats.org/officeDocument/2006/relationships/image" Target="../media/image-6-14.png"/><Relationship Id="rId15" Type="http://schemas.openxmlformats.org/officeDocument/2006/relationships/image" Target="../media/image-6-15.png"/><Relationship Id="rId16" Type="http://schemas.openxmlformats.org/officeDocument/2006/relationships/slideLayout" Target="../slideLayouts/slideLayout1.xml"/><Relationship Id="rId1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image" Target="../media/image-7-10.png"/><Relationship Id="rId11" Type="http://schemas.openxmlformats.org/officeDocument/2006/relationships/image" Target="../media/image-7-11.png"/><Relationship Id="rId12" Type="http://schemas.openxmlformats.org/officeDocument/2006/relationships/image" Target="../media/image-7-12.png"/><Relationship Id="rId13" Type="http://schemas.openxmlformats.org/officeDocument/2006/relationships/image" Target="../media/image-7-13.png"/><Relationship Id="rId14" Type="http://schemas.openxmlformats.org/officeDocument/2006/relationships/image" Target="../media/image-7-14.png"/><Relationship Id="rId15" Type="http://schemas.openxmlformats.org/officeDocument/2006/relationships/image" Target="../media/image-7-15.png"/><Relationship Id="rId16" Type="http://schemas.openxmlformats.org/officeDocument/2006/relationships/image" Target="../media/image-7-16.png"/><Relationship Id="rId17" Type="http://schemas.openxmlformats.org/officeDocument/2006/relationships/image" Target="../media/image-7-17.png"/><Relationship Id="rId18" Type="http://schemas.openxmlformats.org/officeDocument/2006/relationships/image" Target="../media/image-7-18.png"/><Relationship Id="rId19" Type="http://schemas.openxmlformats.org/officeDocument/2006/relationships/slideLayout" Target="../slideLayouts/slideLayout1.xml"/><Relationship Id="rId20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image" Target="../media/image-8-10.png"/><Relationship Id="rId11" Type="http://schemas.openxmlformats.org/officeDocument/2006/relationships/image" Target="../media/image-8-11.png"/><Relationship Id="rId12" Type="http://schemas.openxmlformats.org/officeDocument/2006/relationships/image" Target="../media/image-8-12.png"/><Relationship Id="rId13" Type="http://schemas.openxmlformats.org/officeDocument/2006/relationships/image" Target="../media/image-8-13.png"/><Relationship Id="rId14" Type="http://schemas.openxmlformats.org/officeDocument/2006/relationships/image" Target="../media/image-8-14.png"/><Relationship Id="rId15" Type="http://schemas.openxmlformats.org/officeDocument/2006/relationships/image" Target="../media/image-8-15.png"/><Relationship Id="rId16" Type="http://schemas.openxmlformats.org/officeDocument/2006/relationships/image" Target="../media/image-8-16.png"/><Relationship Id="rId17" Type="http://schemas.openxmlformats.org/officeDocument/2006/relationships/image" Target="../media/image-8-17.png"/><Relationship Id="rId18" Type="http://schemas.openxmlformats.org/officeDocument/2006/relationships/image" Target="../media/image-8-18.png"/><Relationship Id="rId19" Type="http://schemas.openxmlformats.org/officeDocument/2006/relationships/image" Target="../media/image-8-19.png"/><Relationship Id="rId20" Type="http://schemas.openxmlformats.org/officeDocument/2006/relationships/image" Target="../media/image-8-20.png"/><Relationship Id="rId21" Type="http://schemas.openxmlformats.org/officeDocument/2006/relationships/image" Target="../media/image-8-21.png"/><Relationship Id="rId22" Type="http://schemas.openxmlformats.org/officeDocument/2006/relationships/image" Target="../media/image-8-22.png"/><Relationship Id="rId23" Type="http://schemas.openxmlformats.org/officeDocument/2006/relationships/image" Target="../media/image-8-23.png"/><Relationship Id="rId24" Type="http://schemas.openxmlformats.org/officeDocument/2006/relationships/image" Target="../media/image-8-24.png"/><Relationship Id="rId25" Type="http://schemas.openxmlformats.org/officeDocument/2006/relationships/image" Target="../media/image-8-25.png"/><Relationship Id="rId26" Type="http://schemas.openxmlformats.org/officeDocument/2006/relationships/image" Target="../media/image-8-26.png"/><Relationship Id="rId27" Type="http://schemas.openxmlformats.org/officeDocument/2006/relationships/image" Target="../media/image-8-27.png"/><Relationship Id="rId28" Type="http://schemas.openxmlformats.org/officeDocument/2006/relationships/image" Target="../media/image-8-28.png"/><Relationship Id="rId29" Type="http://schemas.openxmlformats.org/officeDocument/2006/relationships/image" Target="../media/image-8-29.png"/><Relationship Id="rId30" Type="http://schemas.openxmlformats.org/officeDocument/2006/relationships/image" Target="../media/image-8-30.png"/><Relationship Id="rId31" Type="http://schemas.openxmlformats.org/officeDocument/2006/relationships/image" Target="../media/image-8-31.png"/><Relationship Id="rId32" Type="http://schemas.openxmlformats.org/officeDocument/2006/relationships/image" Target="../media/image-8-32.png"/><Relationship Id="rId33" Type="http://schemas.openxmlformats.org/officeDocument/2006/relationships/image" Target="../media/image-8-33.png"/><Relationship Id="rId34" Type="http://schemas.openxmlformats.org/officeDocument/2006/relationships/image" Target="../media/image-8-34.png"/><Relationship Id="rId35" Type="http://schemas.openxmlformats.org/officeDocument/2006/relationships/image" Target="../media/image-8-35.png"/><Relationship Id="rId36" Type="http://schemas.openxmlformats.org/officeDocument/2006/relationships/image" Target="../media/image-8-36.png"/><Relationship Id="rId37" Type="http://schemas.openxmlformats.org/officeDocument/2006/relationships/image" Target="../media/image-8-37.png"/><Relationship Id="rId38" Type="http://schemas.openxmlformats.org/officeDocument/2006/relationships/image" Target="../media/image-8-38.png"/><Relationship Id="rId39" Type="http://schemas.openxmlformats.org/officeDocument/2006/relationships/slideLayout" Target="../slideLayouts/slideLayout1.xml"/><Relationship Id="rId40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image" Target="../media/image-9-10.png"/><Relationship Id="rId11" Type="http://schemas.openxmlformats.org/officeDocument/2006/relationships/image" Target="../media/image-9-11.png"/><Relationship Id="rId12" Type="http://schemas.openxmlformats.org/officeDocument/2006/relationships/image" Target="../media/image-9-12.png"/><Relationship Id="rId13" Type="http://schemas.openxmlformats.org/officeDocument/2006/relationships/image" Target="../media/image-9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962025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53275" y="28575"/>
            <a:ext cx="4876800" cy="487680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86725" y="2495550"/>
            <a:ext cx="2876550" cy="2886075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72475" y="2781300"/>
            <a:ext cx="2305050" cy="2314575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67700" y="2676525"/>
            <a:ext cx="2514600" cy="2762250"/>
          </a:xfrm>
          <a:prstGeom prst="rect">
            <a:avLst/>
          </a:prstGeom>
        </p:spPr>
      </p:pic>
      <p:sp>
        <p:nvSpPr>
          <p:cNvPr id="10" name="Text 0"/>
          <p:cNvSpPr/>
          <p:nvPr/>
        </p:nvSpPr>
        <p:spPr>
          <a:xfrm>
            <a:off x="476250" y="323850"/>
            <a:ext cx="5334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2026</a:t>
            </a:r>
            <a:endParaRPr lang="en-US" sz="1700" dirty="0"/>
          </a:p>
        </p:txBody>
      </p:sp>
      <p:sp>
        <p:nvSpPr>
          <p:cNvPr id="11" name="Text 1"/>
          <p:cNvSpPr/>
          <p:nvPr/>
        </p:nvSpPr>
        <p:spPr>
          <a:xfrm>
            <a:off x="4205288" y="323850"/>
            <a:ext cx="15430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- A.I. SUMMIT -</a:t>
            </a:r>
            <a:endParaRPr lang="en-US" sz="1700" dirty="0"/>
          </a:p>
        </p:txBody>
      </p:sp>
      <p:sp>
        <p:nvSpPr>
          <p:cNvPr id="12" name="Text 2"/>
          <p:cNvSpPr/>
          <p:nvPr/>
        </p:nvSpPr>
        <p:spPr>
          <a:xfrm>
            <a:off x="8943975" y="323850"/>
            <a:ext cx="27717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Customer Churn Analysis</a:t>
            </a:r>
            <a:endParaRPr lang="en-US" sz="1700" dirty="0"/>
          </a:p>
        </p:txBody>
      </p:sp>
      <p:sp>
        <p:nvSpPr>
          <p:cNvPr id="13" name="Text 3"/>
          <p:cNvSpPr/>
          <p:nvPr/>
        </p:nvSpPr>
        <p:spPr>
          <a:xfrm>
            <a:off x="476250" y="2085975"/>
            <a:ext cx="11239500" cy="209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Customer</a:t>
            </a:r>
            <a:pPr indent="0" marL="0">
              <a:buNone/>
            </a:pPr>
            <a:r>
              <a:rPr lang="en-US" sz="78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
</a:t>
            </a:r>
            <a:pPr indent="0" marL="0">
              <a:buNone/>
            </a:pPr>
            <a:r>
              <a:rPr lang="en-US" sz="78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Churn</a:t>
            </a:r>
            <a:endParaRPr lang="en-US" sz="7800" dirty="0"/>
          </a:p>
        </p:txBody>
      </p:sp>
      <p:sp>
        <p:nvSpPr>
          <p:cNvPr id="14" name="Text 4"/>
          <p:cNvSpPr/>
          <p:nvPr/>
        </p:nvSpPr>
        <p:spPr>
          <a:xfrm>
            <a:off x="476250" y="4371975"/>
            <a:ext cx="762000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Analysis &amp; Retention Strategy (IBM Telco Dataset)</a:t>
            </a:r>
            <a:endParaRPr lang="en-US" sz="2500" dirty="0"/>
          </a:p>
        </p:txBody>
      </p:sp>
      <p:pic>
        <p:nvPicPr>
          <p:cNvPr id="1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6725" y="5772150"/>
            <a:ext cx="2762250" cy="523875"/>
          </a:xfrm>
          <a:prstGeom prst="rect">
            <a:avLst/>
          </a:prstGeom>
        </p:spPr>
      </p:pic>
      <p:sp>
        <p:nvSpPr>
          <p:cNvPr id="16" name="Text 5"/>
          <p:cNvSpPr/>
          <p:nvPr/>
        </p:nvSpPr>
        <p:spPr>
          <a:xfrm>
            <a:off x="476250" y="5934075"/>
            <a:ext cx="274320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Author: Lauretta Hayford</a:t>
            </a:r>
            <a:endParaRPr lang="en-US" sz="1700" dirty="0"/>
          </a:p>
        </p:txBody>
      </p:sp>
      <p:pic>
        <p:nvPicPr>
          <p:cNvPr id="17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943975" y="3352800"/>
            <a:ext cx="1162050" cy="117157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2975" y="1200150"/>
            <a:ext cx="1162050" cy="1171575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476250" y="190500"/>
            <a:ext cx="342900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2026</a:t>
            </a:r>
            <a:endParaRPr lang="en-US" sz="1000" dirty="0"/>
          </a:p>
        </p:txBody>
      </p:sp>
      <p:sp>
        <p:nvSpPr>
          <p:cNvPr id="6" name="Text 1"/>
          <p:cNvSpPr/>
          <p:nvPr/>
        </p:nvSpPr>
        <p:spPr>
          <a:xfrm>
            <a:off x="4924425" y="190500"/>
            <a:ext cx="990600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- A.I. SUMMIT -</a:t>
            </a:r>
            <a:endParaRPr lang="en-US" sz="1000" dirty="0"/>
          </a:p>
        </p:txBody>
      </p:sp>
      <p:sp>
        <p:nvSpPr>
          <p:cNvPr id="7" name="Text 2"/>
          <p:cNvSpPr/>
          <p:nvPr/>
        </p:nvSpPr>
        <p:spPr>
          <a:xfrm>
            <a:off x="10020300" y="190500"/>
            <a:ext cx="1695450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Customer Churn Analysis</a:t>
            </a:r>
            <a:endParaRPr lang="en-US" sz="1000" dirty="0"/>
          </a:p>
        </p:txBody>
      </p:sp>
      <p:sp>
        <p:nvSpPr>
          <p:cNvPr id="8" name="Text 3"/>
          <p:cNvSpPr/>
          <p:nvPr/>
        </p:nvSpPr>
        <p:spPr>
          <a:xfrm>
            <a:off x="762000" y="1578769"/>
            <a:ext cx="4581525" cy="1933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Table of Contents</a:t>
            </a:r>
            <a:endParaRPr lang="en-US" sz="6400" dirty="0"/>
          </a:p>
        </p:txBody>
      </p:sp>
      <p:sp>
        <p:nvSpPr>
          <p:cNvPr id="9" name="Text 4"/>
          <p:cNvSpPr/>
          <p:nvPr/>
        </p:nvSpPr>
        <p:spPr>
          <a:xfrm>
            <a:off x="6286500" y="1502569"/>
            <a:ext cx="38100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4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1500" dirty="0"/>
          </a:p>
        </p:txBody>
      </p:sp>
      <p:sp>
        <p:nvSpPr>
          <p:cNvPr id="10" name="Text 5"/>
          <p:cNvSpPr/>
          <p:nvPr/>
        </p:nvSpPr>
        <p:spPr>
          <a:xfrm>
            <a:off x="6858000" y="1502569"/>
            <a:ext cx="1657350" cy="2619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Project Overview</a:t>
            </a:r>
            <a:endParaRPr lang="en-US" sz="1500" dirty="0"/>
          </a:p>
        </p:txBody>
      </p:sp>
      <p:sp>
        <p:nvSpPr>
          <p:cNvPr id="11" name="Text 6"/>
          <p:cNvSpPr/>
          <p:nvPr/>
        </p:nvSpPr>
        <p:spPr>
          <a:xfrm>
            <a:off x="6286500" y="2026444"/>
            <a:ext cx="38100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4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1500" dirty="0"/>
          </a:p>
        </p:txBody>
      </p:sp>
      <p:sp>
        <p:nvSpPr>
          <p:cNvPr id="12" name="Text 7"/>
          <p:cNvSpPr/>
          <p:nvPr/>
        </p:nvSpPr>
        <p:spPr>
          <a:xfrm>
            <a:off x="6858000" y="2026444"/>
            <a:ext cx="1724025" cy="2619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Dataset Overview</a:t>
            </a:r>
            <a:endParaRPr lang="en-US" sz="1500" dirty="0"/>
          </a:p>
        </p:txBody>
      </p:sp>
      <p:sp>
        <p:nvSpPr>
          <p:cNvPr id="13" name="Text 8"/>
          <p:cNvSpPr/>
          <p:nvPr/>
        </p:nvSpPr>
        <p:spPr>
          <a:xfrm>
            <a:off x="6286500" y="2550319"/>
            <a:ext cx="38100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4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1500" dirty="0"/>
          </a:p>
        </p:txBody>
      </p:sp>
      <p:sp>
        <p:nvSpPr>
          <p:cNvPr id="14" name="Text 9"/>
          <p:cNvSpPr/>
          <p:nvPr/>
        </p:nvSpPr>
        <p:spPr>
          <a:xfrm>
            <a:off x="6858000" y="2550319"/>
            <a:ext cx="2124075" cy="2619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Tools &amp; Data Cleaning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6286500" y="3074194"/>
            <a:ext cx="38100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4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6858000" y="3074194"/>
            <a:ext cx="1809750" cy="2619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Analysis Areas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6286500" y="3598069"/>
            <a:ext cx="38100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4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6858000" y="3598069"/>
            <a:ext cx="1257300" cy="2619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Findings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6286500" y="4121944"/>
            <a:ext cx="38100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4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6858000" y="4121944"/>
            <a:ext cx="2466975" cy="2619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Dashboard Visualizations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6286500" y="4645819"/>
            <a:ext cx="38100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4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07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6858000" y="4645819"/>
            <a:ext cx="1876425" cy="2619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Recommendations</a:t>
            </a:r>
            <a:endParaRPr lang="en-US" sz="1500" dirty="0"/>
          </a:p>
        </p:txBody>
      </p:sp>
      <p:sp>
        <p:nvSpPr>
          <p:cNvPr id="23" name="Text 18"/>
          <p:cNvSpPr/>
          <p:nvPr/>
        </p:nvSpPr>
        <p:spPr>
          <a:xfrm>
            <a:off x="6286500" y="5169694"/>
            <a:ext cx="38100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4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08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858000" y="5169694"/>
            <a:ext cx="1104900" cy="2619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Conclusion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725" y="2057400"/>
            <a:ext cx="781050" cy="790575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3875" y="2057400"/>
            <a:ext cx="790575" cy="790575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10550" y="2057400"/>
            <a:ext cx="790575" cy="790575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476250" y="890588"/>
            <a:ext cx="112395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5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Project Overview</a:t>
            </a:r>
            <a:endParaRPr lang="en-US" sz="4500" dirty="0"/>
          </a:p>
        </p:txBody>
      </p:sp>
      <p:pic>
        <p:nvPicPr>
          <p:cNvPr id="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5325" y="2286000"/>
            <a:ext cx="323850" cy="333375"/>
          </a:xfrm>
          <a:prstGeom prst="rect">
            <a:avLst/>
          </a:prstGeom>
        </p:spPr>
      </p:pic>
      <p:sp>
        <p:nvSpPr>
          <p:cNvPr id="9" name="Text 1"/>
          <p:cNvSpPr/>
          <p:nvPr/>
        </p:nvSpPr>
        <p:spPr>
          <a:xfrm>
            <a:off x="476250" y="3062288"/>
            <a:ext cx="23241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Business Problem</a:t>
            </a:r>
            <a:endParaRPr lang="en-US" sz="1900" dirty="0"/>
          </a:p>
        </p:txBody>
      </p:sp>
      <p:sp>
        <p:nvSpPr>
          <p:cNvPr id="10" name="Text 2"/>
          <p:cNvSpPr/>
          <p:nvPr/>
        </p:nvSpPr>
        <p:spPr>
          <a:xfrm>
            <a:off x="476250" y="3614738"/>
            <a:ext cx="3492401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Telecommunication companies lose customers regularly, which affects revenue and long-term growth.</a:t>
            </a:r>
            <a:endParaRPr lang="en-US" sz="1400" dirty="0"/>
          </a:p>
        </p:txBody>
      </p:sp>
      <p:pic>
        <p:nvPicPr>
          <p:cNvPr id="1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62475" y="2286000"/>
            <a:ext cx="333375" cy="333375"/>
          </a:xfrm>
          <a:prstGeom prst="rect">
            <a:avLst/>
          </a:prstGeom>
        </p:spPr>
      </p:pic>
      <p:sp>
        <p:nvSpPr>
          <p:cNvPr id="12" name="Text 3"/>
          <p:cNvSpPr/>
          <p:nvPr/>
        </p:nvSpPr>
        <p:spPr>
          <a:xfrm>
            <a:off x="4349651" y="3062288"/>
            <a:ext cx="120967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Objective</a:t>
            </a:r>
            <a:endParaRPr lang="en-US" sz="1900" dirty="0"/>
          </a:p>
        </p:txBody>
      </p:sp>
      <p:sp>
        <p:nvSpPr>
          <p:cNvPr id="13" name="Text 4"/>
          <p:cNvSpPr/>
          <p:nvPr/>
        </p:nvSpPr>
        <p:spPr>
          <a:xfrm>
            <a:off x="4349651" y="3614738"/>
            <a:ext cx="349255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Identify the major customer behaviors that predict churn and recommend strategies to improve retention.</a:t>
            </a:r>
            <a:endParaRPr lang="en-US" sz="1400" dirty="0"/>
          </a:p>
        </p:txBody>
      </p:sp>
      <p:pic>
        <p:nvPicPr>
          <p:cNvPr id="1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39150" y="2286000"/>
            <a:ext cx="333375" cy="333375"/>
          </a:xfrm>
          <a:prstGeom prst="rect">
            <a:avLst/>
          </a:prstGeom>
        </p:spPr>
      </p:pic>
      <p:sp>
        <p:nvSpPr>
          <p:cNvPr id="15" name="Text 5"/>
          <p:cNvSpPr/>
          <p:nvPr/>
        </p:nvSpPr>
        <p:spPr>
          <a:xfrm>
            <a:off x="8223200" y="3062288"/>
            <a:ext cx="21336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Focus Areas</a:t>
            </a:r>
            <a:endParaRPr lang="en-US" sz="1900" dirty="0"/>
          </a:p>
        </p:txBody>
      </p:sp>
      <p:sp>
        <p:nvSpPr>
          <p:cNvPr id="16" name="Text 6"/>
          <p:cNvSpPr/>
          <p:nvPr/>
        </p:nvSpPr>
        <p:spPr>
          <a:xfrm>
            <a:off x="8451800" y="3614738"/>
            <a:ext cx="15430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Customer tenure</a:t>
            </a:r>
            <a:endParaRPr lang="en-US" sz="1400" dirty="0"/>
          </a:p>
        </p:txBody>
      </p:sp>
      <p:sp>
        <p:nvSpPr>
          <p:cNvPr id="17" name="Text 7"/>
          <p:cNvSpPr/>
          <p:nvPr/>
        </p:nvSpPr>
        <p:spPr>
          <a:xfrm>
            <a:off x="8451800" y="3919537"/>
            <a:ext cx="15430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Contract type</a:t>
            </a:r>
            <a:endParaRPr lang="en-US" sz="1400" dirty="0"/>
          </a:p>
        </p:txBody>
      </p:sp>
      <p:sp>
        <p:nvSpPr>
          <p:cNvPr id="18" name="Text 8"/>
          <p:cNvSpPr/>
          <p:nvPr/>
        </p:nvSpPr>
        <p:spPr>
          <a:xfrm>
            <a:off x="8451800" y="4224338"/>
            <a:ext cx="15430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Monthly charges</a:t>
            </a:r>
            <a:endParaRPr lang="en-US" sz="1400" dirty="0"/>
          </a:p>
        </p:txBody>
      </p:sp>
      <p:sp>
        <p:nvSpPr>
          <p:cNvPr id="19" name="Text 9"/>
          <p:cNvSpPr/>
          <p:nvPr/>
        </p:nvSpPr>
        <p:spPr>
          <a:xfrm>
            <a:off x="8451800" y="4529138"/>
            <a:ext cx="15430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Service usage</a:t>
            </a:r>
            <a:endParaRPr lang="en-US" sz="1400" dirty="0"/>
          </a:p>
        </p:txBody>
      </p:sp>
      <p:sp>
        <p:nvSpPr>
          <p:cNvPr id="20" name="Text 10"/>
          <p:cNvSpPr/>
          <p:nvPr/>
        </p:nvSpPr>
        <p:spPr>
          <a:xfrm>
            <a:off x="476250" y="190500"/>
            <a:ext cx="342900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2026</a:t>
            </a:r>
            <a:endParaRPr lang="en-US" sz="1000" dirty="0"/>
          </a:p>
        </p:txBody>
      </p:sp>
      <p:sp>
        <p:nvSpPr>
          <p:cNvPr id="21" name="Text 11"/>
          <p:cNvSpPr/>
          <p:nvPr/>
        </p:nvSpPr>
        <p:spPr>
          <a:xfrm>
            <a:off x="4924425" y="190500"/>
            <a:ext cx="990600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- A.I. SUMMIT -</a:t>
            </a:r>
            <a:endParaRPr lang="en-US" sz="1000" dirty="0"/>
          </a:p>
        </p:txBody>
      </p:sp>
      <p:sp>
        <p:nvSpPr>
          <p:cNvPr id="22" name="Text 12"/>
          <p:cNvSpPr/>
          <p:nvPr/>
        </p:nvSpPr>
        <p:spPr>
          <a:xfrm>
            <a:off x="10020300" y="190500"/>
            <a:ext cx="1695450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Customer Churn Analysis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100" y="4038600"/>
            <a:ext cx="1828800" cy="1590675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24100" y="4038600"/>
            <a:ext cx="1828800" cy="1590675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14975" y="2686050"/>
            <a:ext cx="6210300" cy="72390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14975" y="3571875"/>
            <a:ext cx="6210300" cy="72390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14975" y="4457700"/>
            <a:ext cx="6210300" cy="72390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14975" y="5343525"/>
            <a:ext cx="6210300" cy="72390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514975" y="6229350"/>
            <a:ext cx="6210300" cy="628650"/>
          </a:xfrm>
          <a:prstGeom prst="rect">
            <a:avLst/>
          </a:prstGeom>
        </p:spPr>
      </p:pic>
      <p:sp>
        <p:nvSpPr>
          <p:cNvPr id="11" name="Text 0"/>
          <p:cNvSpPr/>
          <p:nvPr/>
        </p:nvSpPr>
        <p:spPr>
          <a:xfrm>
            <a:off x="476250" y="890588"/>
            <a:ext cx="112395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5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Dataset Overview</a:t>
            </a:r>
            <a:endParaRPr lang="en-US" sz="4500" dirty="0"/>
          </a:p>
        </p:txBody>
      </p:sp>
      <p:sp>
        <p:nvSpPr>
          <p:cNvPr id="12" name="Text 1"/>
          <p:cNvSpPr/>
          <p:nvPr/>
        </p:nvSpPr>
        <p:spPr>
          <a:xfrm>
            <a:off x="476250" y="2071688"/>
            <a:ext cx="42862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4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Source</a:t>
            </a:r>
            <a:endParaRPr lang="en-US" sz="1700" dirty="0"/>
          </a:p>
        </p:txBody>
      </p:sp>
      <p:sp>
        <p:nvSpPr>
          <p:cNvPr id="13" name="Text 2"/>
          <p:cNvSpPr/>
          <p:nvPr/>
        </p:nvSpPr>
        <p:spPr>
          <a:xfrm>
            <a:off x="476250" y="2557463"/>
            <a:ext cx="428625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IBM Telco Customer Churn Dataset (Kaggle)</a:t>
            </a:r>
            <a:endParaRPr lang="en-US" sz="1500" dirty="0"/>
          </a:p>
        </p:txBody>
      </p:sp>
      <p:sp>
        <p:nvSpPr>
          <p:cNvPr id="14" name="Text 3"/>
          <p:cNvSpPr/>
          <p:nvPr/>
        </p:nvSpPr>
        <p:spPr>
          <a:xfrm>
            <a:off x="476250" y="3567113"/>
            <a:ext cx="42862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4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Size</a:t>
            </a:r>
            <a:endParaRPr lang="en-US" sz="1700" dirty="0"/>
          </a:p>
        </p:txBody>
      </p:sp>
      <p:sp>
        <p:nvSpPr>
          <p:cNvPr id="15" name="Text 4"/>
          <p:cNvSpPr/>
          <p:nvPr/>
        </p:nvSpPr>
        <p:spPr>
          <a:xfrm>
            <a:off x="709613" y="4452938"/>
            <a:ext cx="124777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7,000+</a:t>
            </a:r>
            <a:endParaRPr lang="en-US" sz="2900" dirty="0"/>
          </a:p>
        </p:txBody>
      </p:sp>
      <p:sp>
        <p:nvSpPr>
          <p:cNvPr id="16" name="Text 5"/>
          <p:cNvSpPr/>
          <p:nvPr/>
        </p:nvSpPr>
        <p:spPr>
          <a:xfrm>
            <a:off x="966788" y="4948238"/>
            <a:ext cx="733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Records</a:t>
            </a:r>
            <a:endParaRPr lang="en-US" sz="1100" dirty="0"/>
          </a:p>
        </p:txBody>
      </p:sp>
      <p:sp>
        <p:nvSpPr>
          <p:cNvPr id="17" name="Text 6"/>
          <p:cNvSpPr/>
          <p:nvPr/>
        </p:nvSpPr>
        <p:spPr>
          <a:xfrm>
            <a:off x="3009900" y="4452938"/>
            <a:ext cx="4572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21</a:t>
            </a:r>
            <a:endParaRPr lang="en-US" sz="2900" dirty="0"/>
          </a:p>
        </p:txBody>
      </p:sp>
      <p:sp>
        <p:nvSpPr>
          <p:cNvPr id="18" name="Text 7"/>
          <p:cNvSpPr/>
          <p:nvPr/>
        </p:nvSpPr>
        <p:spPr>
          <a:xfrm>
            <a:off x="2852738" y="4948238"/>
            <a:ext cx="7715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Columns</a:t>
            </a:r>
            <a:endParaRPr lang="en-US" sz="1100" dirty="0"/>
          </a:p>
        </p:txBody>
      </p:sp>
      <p:sp>
        <p:nvSpPr>
          <p:cNvPr id="19" name="Text 8"/>
          <p:cNvSpPr/>
          <p:nvPr/>
        </p:nvSpPr>
        <p:spPr>
          <a:xfrm>
            <a:off x="5524500" y="2071688"/>
            <a:ext cx="61912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4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Includes</a:t>
            </a:r>
            <a:endParaRPr lang="en-US" sz="1700" dirty="0"/>
          </a:p>
        </p:txBody>
      </p:sp>
      <p:pic>
        <p:nvPicPr>
          <p:cNvPr id="20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743575" y="2924175"/>
            <a:ext cx="304800" cy="247650"/>
          </a:xfrm>
          <a:prstGeom prst="rect">
            <a:avLst/>
          </a:prstGeom>
        </p:spPr>
      </p:pic>
      <p:sp>
        <p:nvSpPr>
          <p:cNvPr id="21" name="Text 9"/>
          <p:cNvSpPr/>
          <p:nvPr/>
        </p:nvSpPr>
        <p:spPr>
          <a:xfrm>
            <a:off x="6229350" y="2890838"/>
            <a:ext cx="2466975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Customer demographics</a:t>
            </a:r>
            <a:endParaRPr lang="en-US" sz="1500" dirty="0"/>
          </a:p>
        </p:txBody>
      </p:sp>
      <p:pic>
        <p:nvPicPr>
          <p:cNvPr id="2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743575" y="3810000"/>
            <a:ext cx="304800" cy="247650"/>
          </a:xfrm>
          <a:prstGeom prst="rect">
            <a:avLst/>
          </a:prstGeom>
        </p:spPr>
      </p:pic>
      <p:sp>
        <p:nvSpPr>
          <p:cNvPr id="23" name="Text 10"/>
          <p:cNvSpPr/>
          <p:nvPr/>
        </p:nvSpPr>
        <p:spPr>
          <a:xfrm>
            <a:off x="6229350" y="3776662"/>
            <a:ext cx="222885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Services subscribed to</a:t>
            </a:r>
            <a:endParaRPr lang="en-US" sz="1500" dirty="0"/>
          </a:p>
        </p:txBody>
      </p:sp>
      <p:pic>
        <p:nvPicPr>
          <p:cNvPr id="24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743575" y="4695825"/>
            <a:ext cx="304800" cy="247650"/>
          </a:xfrm>
          <a:prstGeom prst="rect">
            <a:avLst/>
          </a:prstGeom>
        </p:spPr>
      </p:pic>
      <p:sp>
        <p:nvSpPr>
          <p:cNvPr id="25" name="Text 11"/>
          <p:cNvSpPr/>
          <p:nvPr/>
        </p:nvSpPr>
        <p:spPr>
          <a:xfrm>
            <a:off x="6229350" y="4662488"/>
            <a:ext cx="278130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Billing/payment information</a:t>
            </a:r>
            <a:endParaRPr lang="en-US" sz="1500" dirty="0"/>
          </a:p>
        </p:txBody>
      </p:sp>
      <p:pic>
        <p:nvPicPr>
          <p:cNvPr id="26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743575" y="5581650"/>
            <a:ext cx="304800" cy="247650"/>
          </a:xfrm>
          <a:prstGeom prst="rect">
            <a:avLst/>
          </a:prstGeom>
        </p:spPr>
      </p:pic>
      <p:sp>
        <p:nvSpPr>
          <p:cNvPr id="27" name="Text 12"/>
          <p:cNvSpPr/>
          <p:nvPr/>
        </p:nvSpPr>
        <p:spPr>
          <a:xfrm>
            <a:off x="6229350" y="5548313"/>
            <a:ext cx="1571625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Contract details</a:t>
            </a:r>
            <a:endParaRPr lang="en-US" sz="1500" dirty="0"/>
          </a:p>
        </p:txBody>
      </p:sp>
      <p:pic>
        <p:nvPicPr>
          <p:cNvPr id="28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743575" y="6467475"/>
            <a:ext cx="304800" cy="247650"/>
          </a:xfrm>
          <a:prstGeom prst="rect">
            <a:avLst/>
          </a:prstGeom>
        </p:spPr>
      </p:pic>
      <p:sp>
        <p:nvSpPr>
          <p:cNvPr id="29" name="Text 13"/>
          <p:cNvSpPr/>
          <p:nvPr/>
        </p:nvSpPr>
        <p:spPr>
          <a:xfrm>
            <a:off x="6229350" y="6434138"/>
            <a:ext cx="1285875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Churn status</a:t>
            </a:r>
            <a:endParaRPr lang="en-US" sz="1500" dirty="0"/>
          </a:p>
        </p:txBody>
      </p:sp>
      <p:sp>
        <p:nvSpPr>
          <p:cNvPr id="30" name="Text 14"/>
          <p:cNvSpPr/>
          <p:nvPr/>
        </p:nvSpPr>
        <p:spPr>
          <a:xfrm>
            <a:off x="476250" y="190500"/>
            <a:ext cx="342900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2026</a:t>
            </a:r>
            <a:endParaRPr lang="en-US" sz="1000" dirty="0"/>
          </a:p>
        </p:txBody>
      </p:sp>
      <p:sp>
        <p:nvSpPr>
          <p:cNvPr id="31" name="Text 15"/>
          <p:cNvSpPr/>
          <p:nvPr/>
        </p:nvSpPr>
        <p:spPr>
          <a:xfrm>
            <a:off x="4924425" y="190500"/>
            <a:ext cx="990600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- A.I. SUMMIT -</a:t>
            </a:r>
            <a:endParaRPr lang="en-US" sz="1000" dirty="0"/>
          </a:p>
        </p:txBody>
      </p:sp>
      <p:sp>
        <p:nvSpPr>
          <p:cNvPr id="32" name="Text 16"/>
          <p:cNvSpPr/>
          <p:nvPr/>
        </p:nvSpPr>
        <p:spPr>
          <a:xfrm>
            <a:off x="10020300" y="190500"/>
            <a:ext cx="1695450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Customer Churn Analysis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725" y="2190750"/>
            <a:ext cx="2619375" cy="1000125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" y="2390775"/>
            <a:ext cx="590550" cy="600075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43275" y="2190750"/>
            <a:ext cx="2619375" cy="1000125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43300" y="2390775"/>
            <a:ext cx="600075" cy="600075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29350" y="2190750"/>
            <a:ext cx="2619375" cy="1000125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29375" y="2390775"/>
            <a:ext cx="590550" cy="600075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05900" y="2190750"/>
            <a:ext cx="2619375" cy="1000125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305925" y="2390775"/>
            <a:ext cx="600075" cy="600075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66725" y="4714875"/>
            <a:ext cx="11258550" cy="1771650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90525" y="4638675"/>
            <a:ext cx="209550" cy="209550"/>
          </a:xfrm>
          <a:prstGeom prst="rect">
            <a:avLst/>
          </a:prstGeom>
        </p:spPr>
      </p:pic>
      <p:sp>
        <p:nvSpPr>
          <p:cNvPr id="14" name="Text 0"/>
          <p:cNvSpPr/>
          <p:nvPr/>
        </p:nvSpPr>
        <p:spPr>
          <a:xfrm>
            <a:off x="476250" y="1671638"/>
            <a:ext cx="11239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4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Tools Used</a:t>
            </a:r>
            <a:endParaRPr lang="en-US" sz="1700" dirty="0"/>
          </a:p>
        </p:txBody>
      </p:sp>
      <p:pic>
        <p:nvPicPr>
          <p:cNvPr id="15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47725" y="2543175"/>
            <a:ext cx="228600" cy="295275"/>
          </a:xfrm>
          <a:prstGeom prst="rect">
            <a:avLst/>
          </a:prstGeom>
        </p:spPr>
      </p:pic>
      <p:sp>
        <p:nvSpPr>
          <p:cNvPr id="16" name="Text 1"/>
          <p:cNvSpPr/>
          <p:nvPr/>
        </p:nvSpPr>
        <p:spPr>
          <a:xfrm>
            <a:off x="1438275" y="2533650"/>
            <a:ext cx="523875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Excel</a:t>
            </a:r>
            <a:endParaRPr lang="en-US" sz="1500" dirty="0"/>
          </a:p>
        </p:txBody>
      </p:sp>
      <p:pic>
        <p:nvPicPr>
          <p:cNvPr id="17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714750" y="2543175"/>
            <a:ext cx="257175" cy="295275"/>
          </a:xfrm>
          <a:prstGeom prst="rect">
            <a:avLst/>
          </a:prstGeom>
        </p:spPr>
      </p:pic>
      <p:sp>
        <p:nvSpPr>
          <p:cNvPr id="18" name="Text 2"/>
          <p:cNvSpPr/>
          <p:nvPr/>
        </p:nvSpPr>
        <p:spPr>
          <a:xfrm>
            <a:off x="4319588" y="2533650"/>
            <a:ext cx="733425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MySQL</a:t>
            </a:r>
            <a:endParaRPr lang="en-US" sz="1500" dirty="0"/>
          </a:p>
        </p:txBody>
      </p:sp>
      <p:pic>
        <p:nvPicPr>
          <p:cNvPr id="19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581775" y="2543175"/>
            <a:ext cx="285750" cy="295275"/>
          </a:xfrm>
          <a:prstGeom prst="rect">
            <a:avLst/>
          </a:prstGeom>
        </p:spPr>
      </p:pic>
      <p:sp>
        <p:nvSpPr>
          <p:cNvPr id="20" name="Text 3"/>
          <p:cNvSpPr/>
          <p:nvPr/>
        </p:nvSpPr>
        <p:spPr>
          <a:xfrm>
            <a:off x="7200900" y="2533650"/>
            <a:ext cx="87630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Power BI</a:t>
            </a:r>
            <a:endParaRPr lang="en-US" sz="1500" dirty="0"/>
          </a:p>
        </p:txBody>
      </p:sp>
      <p:pic>
        <p:nvPicPr>
          <p:cNvPr id="21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429750" y="2543175"/>
            <a:ext cx="352425" cy="295275"/>
          </a:xfrm>
          <a:prstGeom prst="rect">
            <a:avLst/>
          </a:prstGeom>
        </p:spPr>
      </p:pic>
      <p:sp>
        <p:nvSpPr>
          <p:cNvPr id="22" name="Text 4"/>
          <p:cNvSpPr/>
          <p:nvPr/>
        </p:nvSpPr>
        <p:spPr>
          <a:xfrm>
            <a:off x="10082213" y="2533650"/>
            <a:ext cx="85725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 Online</a:t>
            </a:r>
            <a:endParaRPr lang="en-US" sz="1500" dirty="0"/>
          </a:p>
        </p:txBody>
      </p:sp>
      <p:sp>
        <p:nvSpPr>
          <p:cNvPr id="23" name="Text 5"/>
          <p:cNvSpPr/>
          <p:nvPr/>
        </p:nvSpPr>
        <p:spPr>
          <a:xfrm>
            <a:off x="476250" y="4191000"/>
            <a:ext cx="11239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4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Cleaning Steps</a:t>
            </a:r>
            <a:endParaRPr lang="en-US" sz="1700" dirty="0"/>
          </a:p>
        </p:txBody>
      </p:sp>
      <p:pic>
        <p:nvPicPr>
          <p:cNvPr id="24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71525" y="5048250"/>
            <a:ext cx="219075" cy="247650"/>
          </a:xfrm>
          <a:prstGeom prst="rect">
            <a:avLst/>
          </a:prstGeom>
        </p:spPr>
      </p:pic>
      <p:sp>
        <p:nvSpPr>
          <p:cNvPr id="25" name="Text 6"/>
          <p:cNvSpPr/>
          <p:nvPr/>
        </p:nvSpPr>
        <p:spPr>
          <a:xfrm>
            <a:off x="1123950" y="5029200"/>
            <a:ext cx="18669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Removed duplicates</a:t>
            </a:r>
            <a:endParaRPr lang="en-US" sz="1400" dirty="0"/>
          </a:p>
        </p:txBody>
      </p:sp>
      <p:pic>
        <p:nvPicPr>
          <p:cNvPr id="26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372225" y="5048250"/>
            <a:ext cx="219075" cy="247650"/>
          </a:xfrm>
          <a:prstGeom prst="rect">
            <a:avLst/>
          </a:prstGeom>
        </p:spPr>
      </p:pic>
      <p:sp>
        <p:nvSpPr>
          <p:cNvPr id="27" name="Text 7"/>
          <p:cNvSpPr/>
          <p:nvPr/>
        </p:nvSpPr>
        <p:spPr>
          <a:xfrm>
            <a:off x="6724650" y="5029200"/>
            <a:ext cx="2190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Checked missing values</a:t>
            </a:r>
            <a:endParaRPr lang="en-US" sz="1400" dirty="0"/>
          </a:p>
        </p:txBody>
      </p:sp>
      <p:pic>
        <p:nvPicPr>
          <p:cNvPr id="28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71525" y="5476875"/>
            <a:ext cx="219075" cy="247650"/>
          </a:xfrm>
          <a:prstGeom prst="rect">
            <a:avLst/>
          </a:prstGeom>
        </p:spPr>
      </p:pic>
      <p:sp>
        <p:nvSpPr>
          <p:cNvPr id="29" name="Text 8"/>
          <p:cNvSpPr/>
          <p:nvPr/>
        </p:nvSpPr>
        <p:spPr>
          <a:xfrm>
            <a:off x="1123950" y="5457825"/>
            <a:ext cx="3238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Converted TotalCharges to numeric</a:t>
            </a:r>
            <a:endParaRPr lang="en-US" sz="1400" dirty="0"/>
          </a:p>
        </p:txBody>
      </p:sp>
      <p:pic>
        <p:nvPicPr>
          <p:cNvPr id="30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372225" y="5476875"/>
            <a:ext cx="219075" cy="247650"/>
          </a:xfrm>
          <a:prstGeom prst="rect">
            <a:avLst/>
          </a:prstGeom>
        </p:spPr>
      </p:pic>
      <p:sp>
        <p:nvSpPr>
          <p:cNvPr id="31" name="Text 9"/>
          <p:cNvSpPr/>
          <p:nvPr/>
        </p:nvSpPr>
        <p:spPr>
          <a:xfrm>
            <a:off x="6724650" y="5457825"/>
            <a:ext cx="28384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Standardized categorical fields</a:t>
            </a:r>
            <a:endParaRPr lang="en-US" sz="1400" dirty="0"/>
          </a:p>
        </p:txBody>
      </p:sp>
      <p:pic>
        <p:nvPicPr>
          <p:cNvPr id="32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71525" y="5905500"/>
            <a:ext cx="219075" cy="247650"/>
          </a:xfrm>
          <a:prstGeom prst="rect">
            <a:avLst/>
          </a:prstGeom>
        </p:spPr>
      </p:pic>
      <p:sp>
        <p:nvSpPr>
          <p:cNvPr id="33" name="Text 10"/>
          <p:cNvSpPr/>
          <p:nvPr/>
        </p:nvSpPr>
        <p:spPr>
          <a:xfrm>
            <a:off x="1123950" y="5886450"/>
            <a:ext cx="416242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Removed blank spaces and formatting issues</a:t>
            </a:r>
            <a:endParaRPr lang="en-US" sz="1400" dirty="0"/>
          </a:p>
        </p:txBody>
      </p:sp>
      <p:sp>
        <p:nvSpPr>
          <p:cNvPr id="34" name="Text 11"/>
          <p:cNvSpPr/>
          <p:nvPr/>
        </p:nvSpPr>
        <p:spPr>
          <a:xfrm>
            <a:off x="476250" y="190500"/>
            <a:ext cx="342900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2026</a:t>
            </a:r>
            <a:endParaRPr lang="en-US" sz="1000" dirty="0"/>
          </a:p>
        </p:txBody>
      </p:sp>
      <p:sp>
        <p:nvSpPr>
          <p:cNvPr id="35" name="Text 12"/>
          <p:cNvSpPr/>
          <p:nvPr/>
        </p:nvSpPr>
        <p:spPr>
          <a:xfrm>
            <a:off x="4924425" y="190500"/>
            <a:ext cx="990600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- A.I. SUMMIT -</a:t>
            </a:r>
            <a:endParaRPr lang="en-US" sz="1000" dirty="0"/>
          </a:p>
        </p:txBody>
      </p:sp>
      <p:sp>
        <p:nvSpPr>
          <p:cNvPr id="36" name="Text 13"/>
          <p:cNvSpPr/>
          <p:nvPr/>
        </p:nvSpPr>
        <p:spPr>
          <a:xfrm>
            <a:off x="10020300" y="190500"/>
            <a:ext cx="1695450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Customer Churn Analysis</a:t>
            </a:r>
            <a:endParaRPr lang="en-US" sz="1000" dirty="0"/>
          </a:p>
        </p:txBody>
      </p:sp>
      <p:sp>
        <p:nvSpPr>
          <p:cNvPr id="37" name="Text 14"/>
          <p:cNvSpPr/>
          <p:nvPr/>
        </p:nvSpPr>
        <p:spPr>
          <a:xfrm>
            <a:off x="476250" y="700088"/>
            <a:ext cx="112395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Tools and Data Cleaning</a:t>
            </a:r>
            <a:endParaRPr lang="en-US" sz="3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725" y="1819275"/>
            <a:ext cx="400050" cy="47625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" y="2447925"/>
            <a:ext cx="3505200" cy="180975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6750" y="2486025"/>
            <a:ext cx="57150" cy="1724025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43400" y="2447925"/>
            <a:ext cx="3505200" cy="180975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81500" y="2486025"/>
            <a:ext cx="57150" cy="1724025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58150" y="2447925"/>
            <a:ext cx="3505200" cy="180975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96250" y="2486025"/>
            <a:ext cx="57150" cy="1724025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8650" y="4629150"/>
            <a:ext cx="3505200" cy="180975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66750" y="4667250"/>
            <a:ext cx="57150" cy="1724025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343400" y="4629150"/>
            <a:ext cx="3505200" cy="1809750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381500" y="4667250"/>
            <a:ext cx="57150" cy="1724025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324975" y="5038725"/>
            <a:ext cx="971550" cy="981075"/>
          </a:xfrm>
          <a:prstGeom prst="rect">
            <a:avLst/>
          </a:prstGeom>
        </p:spPr>
      </p:pic>
      <p:sp>
        <p:nvSpPr>
          <p:cNvPr id="16" name="Text 0"/>
          <p:cNvSpPr/>
          <p:nvPr/>
        </p:nvSpPr>
        <p:spPr>
          <a:xfrm>
            <a:off x="476250" y="890588"/>
            <a:ext cx="112395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Analysis Areas</a:t>
            </a:r>
            <a:endParaRPr lang="en-US" sz="3400" dirty="0"/>
          </a:p>
        </p:txBody>
      </p:sp>
      <p:sp>
        <p:nvSpPr>
          <p:cNvPr id="17" name="Text 1"/>
          <p:cNvSpPr/>
          <p:nvPr/>
        </p:nvSpPr>
        <p:spPr>
          <a:xfrm>
            <a:off x="971550" y="1671638"/>
            <a:ext cx="319281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Questions Investigated</a:t>
            </a:r>
            <a:endParaRPr lang="en-US" sz="1700" dirty="0"/>
          </a:p>
        </p:txBody>
      </p:sp>
      <p:sp>
        <p:nvSpPr>
          <p:cNvPr id="18" name="Text 2"/>
          <p:cNvSpPr/>
          <p:nvPr/>
        </p:nvSpPr>
        <p:spPr>
          <a:xfrm>
            <a:off x="962025" y="2896791"/>
            <a:ext cx="28384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4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1700" dirty="0"/>
          </a:p>
        </p:txBody>
      </p:sp>
      <p:sp>
        <p:nvSpPr>
          <p:cNvPr id="19" name="Text 3"/>
          <p:cNvSpPr/>
          <p:nvPr/>
        </p:nvSpPr>
        <p:spPr>
          <a:xfrm>
            <a:off x="962025" y="3315891"/>
            <a:ext cx="28384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Which contract types have the highest churn?</a:t>
            </a:r>
            <a:endParaRPr lang="en-US" sz="1400" dirty="0"/>
          </a:p>
        </p:txBody>
      </p:sp>
      <p:sp>
        <p:nvSpPr>
          <p:cNvPr id="20" name="Text 4"/>
          <p:cNvSpPr/>
          <p:nvPr/>
        </p:nvSpPr>
        <p:spPr>
          <a:xfrm>
            <a:off x="4676775" y="2896791"/>
            <a:ext cx="28384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4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1700" dirty="0"/>
          </a:p>
        </p:txBody>
      </p:sp>
      <p:sp>
        <p:nvSpPr>
          <p:cNvPr id="21" name="Text 5"/>
          <p:cNvSpPr/>
          <p:nvPr/>
        </p:nvSpPr>
        <p:spPr>
          <a:xfrm>
            <a:off x="4676775" y="3315891"/>
            <a:ext cx="28384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Does customer tenure affect churn?</a:t>
            </a:r>
            <a:endParaRPr lang="en-US" sz="1400" dirty="0"/>
          </a:p>
        </p:txBody>
      </p:sp>
      <p:sp>
        <p:nvSpPr>
          <p:cNvPr id="22" name="Text 6"/>
          <p:cNvSpPr/>
          <p:nvPr/>
        </p:nvSpPr>
        <p:spPr>
          <a:xfrm>
            <a:off x="8391525" y="2896791"/>
            <a:ext cx="28384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4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1700" dirty="0"/>
          </a:p>
        </p:txBody>
      </p:sp>
      <p:sp>
        <p:nvSpPr>
          <p:cNvPr id="23" name="Text 7"/>
          <p:cNvSpPr/>
          <p:nvPr/>
        </p:nvSpPr>
        <p:spPr>
          <a:xfrm>
            <a:off x="8391525" y="3315891"/>
            <a:ext cx="28384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 higher monthly charges increase churn?</a:t>
            </a:r>
            <a:endParaRPr lang="en-US" sz="1400" dirty="0"/>
          </a:p>
        </p:txBody>
      </p:sp>
      <p:sp>
        <p:nvSpPr>
          <p:cNvPr id="24" name="Text 8"/>
          <p:cNvSpPr/>
          <p:nvPr/>
        </p:nvSpPr>
        <p:spPr>
          <a:xfrm>
            <a:off x="962025" y="5080397"/>
            <a:ext cx="28384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4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1700" dirty="0"/>
          </a:p>
        </p:txBody>
      </p:sp>
      <p:sp>
        <p:nvSpPr>
          <p:cNvPr id="25" name="Text 9"/>
          <p:cNvSpPr/>
          <p:nvPr/>
        </p:nvSpPr>
        <p:spPr>
          <a:xfrm>
            <a:off x="962025" y="5499497"/>
            <a:ext cx="28384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Which services reduce churn risk?</a:t>
            </a:r>
            <a:endParaRPr lang="en-US" sz="1400" dirty="0"/>
          </a:p>
        </p:txBody>
      </p:sp>
      <p:sp>
        <p:nvSpPr>
          <p:cNvPr id="26" name="Text 10"/>
          <p:cNvSpPr/>
          <p:nvPr/>
        </p:nvSpPr>
        <p:spPr>
          <a:xfrm>
            <a:off x="4676775" y="5080397"/>
            <a:ext cx="28384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4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</a:t>
            </a:r>
            <a:endParaRPr lang="en-US" sz="1700" dirty="0"/>
          </a:p>
        </p:txBody>
      </p:sp>
      <p:sp>
        <p:nvSpPr>
          <p:cNvPr id="27" name="Text 11"/>
          <p:cNvSpPr/>
          <p:nvPr/>
        </p:nvSpPr>
        <p:spPr>
          <a:xfrm>
            <a:off x="4676775" y="5499497"/>
            <a:ext cx="28384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Which payment methods are associated with churn?</a:t>
            </a:r>
            <a:endParaRPr lang="en-US" sz="1400" dirty="0"/>
          </a:p>
        </p:txBody>
      </p:sp>
      <p:pic>
        <p:nvPicPr>
          <p:cNvPr id="28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610725" y="5324475"/>
            <a:ext cx="400050" cy="409575"/>
          </a:xfrm>
          <a:prstGeom prst="rect">
            <a:avLst/>
          </a:prstGeom>
        </p:spPr>
      </p:pic>
      <p:sp>
        <p:nvSpPr>
          <p:cNvPr id="29" name="Text 12"/>
          <p:cNvSpPr/>
          <p:nvPr/>
        </p:nvSpPr>
        <p:spPr>
          <a:xfrm>
            <a:off x="476250" y="190500"/>
            <a:ext cx="342900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2026</a:t>
            </a:r>
            <a:endParaRPr lang="en-US" sz="1000" dirty="0"/>
          </a:p>
        </p:txBody>
      </p:sp>
      <p:sp>
        <p:nvSpPr>
          <p:cNvPr id="30" name="Text 13"/>
          <p:cNvSpPr/>
          <p:nvPr/>
        </p:nvSpPr>
        <p:spPr>
          <a:xfrm>
            <a:off x="4924425" y="190500"/>
            <a:ext cx="990600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- A.I. SUMMIT -</a:t>
            </a:r>
            <a:endParaRPr lang="en-US" sz="1000" dirty="0"/>
          </a:p>
        </p:txBody>
      </p:sp>
      <p:sp>
        <p:nvSpPr>
          <p:cNvPr id="31" name="Text 14"/>
          <p:cNvSpPr/>
          <p:nvPr/>
        </p:nvSpPr>
        <p:spPr>
          <a:xfrm>
            <a:off x="10020300" y="190500"/>
            <a:ext cx="1695450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Customer Churn Analysis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725" y="1819275"/>
            <a:ext cx="400050" cy="47625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" y="2352675"/>
            <a:ext cx="5314950" cy="142875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4875" y="2762250"/>
            <a:ext cx="590550" cy="600075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48400" y="2352675"/>
            <a:ext cx="5314950" cy="142875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24625" y="2762250"/>
            <a:ext cx="590550" cy="600075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8650" y="3971925"/>
            <a:ext cx="5314950" cy="142875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04875" y="4381500"/>
            <a:ext cx="590550" cy="600075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48400" y="3971925"/>
            <a:ext cx="5314950" cy="142875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24625" y="4381500"/>
            <a:ext cx="590550" cy="600075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28650" y="5591175"/>
            <a:ext cx="5314950" cy="1266825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04875" y="6000750"/>
            <a:ext cx="590550" cy="600075"/>
          </a:xfrm>
          <a:prstGeom prst="rect">
            <a:avLst/>
          </a:prstGeom>
        </p:spPr>
      </p:pic>
      <p:sp>
        <p:nvSpPr>
          <p:cNvPr id="15" name="Text 0"/>
          <p:cNvSpPr/>
          <p:nvPr/>
        </p:nvSpPr>
        <p:spPr>
          <a:xfrm>
            <a:off x="476250" y="890588"/>
            <a:ext cx="112395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Findings</a:t>
            </a:r>
            <a:endParaRPr lang="en-US" sz="3400" dirty="0"/>
          </a:p>
        </p:txBody>
      </p:sp>
      <p:sp>
        <p:nvSpPr>
          <p:cNvPr id="16" name="Text 1"/>
          <p:cNvSpPr/>
          <p:nvPr/>
        </p:nvSpPr>
        <p:spPr>
          <a:xfrm>
            <a:off x="971550" y="1671638"/>
            <a:ext cx="203269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Major Insights</a:t>
            </a:r>
            <a:endParaRPr lang="en-US" sz="1700" dirty="0"/>
          </a:p>
        </p:txBody>
      </p:sp>
      <p:pic>
        <p:nvPicPr>
          <p:cNvPr id="17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104900" y="2933700"/>
            <a:ext cx="190500" cy="257175"/>
          </a:xfrm>
          <a:prstGeom prst="rect">
            <a:avLst/>
          </a:prstGeom>
        </p:spPr>
      </p:pic>
      <p:sp>
        <p:nvSpPr>
          <p:cNvPr id="18" name="Text 2"/>
          <p:cNvSpPr/>
          <p:nvPr/>
        </p:nvSpPr>
        <p:spPr>
          <a:xfrm>
            <a:off x="1676400" y="2824163"/>
            <a:ext cx="39814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Month-to-month contracts had the highest churn rate</a:t>
            </a:r>
            <a:endParaRPr lang="en-US" sz="1400" dirty="0"/>
          </a:p>
        </p:txBody>
      </p:sp>
      <p:pic>
        <p:nvPicPr>
          <p:cNvPr id="19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696075" y="2933700"/>
            <a:ext cx="247650" cy="257175"/>
          </a:xfrm>
          <a:prstGeom prst="rect">
            <a:avLst/>
          </a:prstGeom>
        </p:spPr>
      </p:pic>
      <p:sp>
        <p:nvSpPr>
          <p:cNvPr id="20" name="Text 3"/>
          <p:cNvSpPr/>
          <p:nvPr/>
        </p:nvSpPr>
        <p:spPr>
          <a:xfrm>
            <a:off x="7296150" y="2824163"/>
            <a:ext cx="39814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Customers with shorter tenure churned more often</a:t>
            </a:r>
            <a:endParaRPr lang="en-US" sz="1400" dirty="0"/>
          </a:p>
        </p:txBody>
      </p:sp>
      <p:pic>
        <p:nvPicPr>
          <p:cNvPr id="21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57275" y="4552950"/>
            <a:ext cx="285750" cy="257175"/>
          </a:xfrm>
          <a:prstGeom prst="rect">
            <a:avLst/>
          </a:prstGeom>
        </p:spPr>
      </p:pic>
      <p:sp>
        <p:nvSpPr>
          <p:cNvPr id="22" name="Text 4"/>
          <p:cNvSpPr/>
          <p:nvPr/>
        </p:nvSpPr>
        <p:spPr>
          <a:xfrm>
            <a:off x="1676400" y="4443413"/>
            <a:ext cx="39814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Higher monthly charges increased churn likelihood</a:t>
            </a:r>
            <a:endParaRPr lang="en-US" sz="1400" dirty="0"/>
          </a:p>
        </p:txBody>
      </p:sp>
      <p:pic>
        <p:nvPicPr>
          <p:cNvPr id="23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696075" y="4552950"/>
            <a:ext cx="247650" cy="257175"/>
          </a:xfrm>
          <a:prstGeom prst="rect">
            <a:avLst/>
          </a:prstGeom>
        </p:spPr>
      </p:pic>
      <p:sp>
        <p:nvSpPr>
          <p:cNvPr id="24" name="Text 5"/>
          <p:cNvSpPr/>
          <p:nvPr/>
        </p:nvSpPr>
        <p:spPr>
          <a:xfrm>
            <a:off x="7296150" y="4443413"/>
            <a:ext cx="39814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Customers without tech support and online security churned more</a:t>
            </a:r>
            <a:endParaRPr lang="en-US" sz="1400" dirty="0"/>
          </a:p>
        </p:txBody>
      </p:sp>
      <p:pic>
        <p:nvPicPr>
          <p:cNvPr id="25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57275" y="6172200"/>
            <a:ext cx="285750" cy="257175"/>
          </a:xfrm>
          <a:prstGeom prst="rect">
            <a:avLst/>
          </a:prstGeom>
        </p:spPr>
      </p:pic>
      <p:sp>
        <p:nvSpPr>
          <p:cNvPr id="26" name="Text 6"/>
          <p:cNvSpPr/>
          <p:nvPr/>
        </p:nvSpPr>
        <p:spPr>
          <a:xfrm>
            <a:off x="1676400" y="6062663"/>
            <a:ext cx="39814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Electronic check users showed higher churn rates</a:t>
            </a:r>
            <a:endParaRPr lang="en-US" sz="1400" dirty="0"/>
          </a:p>
        </p:txBody>
      </p:sp>
      <p:sp>
        <p:nvSpPr>
          <p:cNvPr id="27" name="Text 7"/>
          <p:cNvSpPr/>
          <p:nvPr/>
        </p:nvSpPr>
        <p:spPr>
          <a:xfrm>
            <a:off x="8846790" y="5867400"/>
            <a:ext cx="229746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500" b="1" dirty="0">
                <a:solidFill>
                  <a:srgbClr val="004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82%</a:t>
            </a:r>
            <a:endParaRPr lang="en-US" sz="4500" dirty="0"/>
          </a:p>
        </p:txBody>
      </p:sp>
      <p:sp>
        <p:nvSpPr>
          <p:cNvPr id="28" name="Text 8"/>
          <p:cNvSpPr/>
          <p:nvPr/>
        </p:nvSpPr>
        <p:spPr>
          <a:xfrm>
            <a:off x="8846790" y="6477000"/>
            <a:ext cx="229746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Insight Correlation</a:t>
            </a:r>
            <a:endParaRPr lang="en-US" sz="1200" dirty="0"/>
          </a:p>
        </p:txBody>
      </p:sp>
      <p:sp>
        <p:nvSpPr>
          <p:cNvPr id="29" name="Text 9"/>
          <p:cNvSpPr/>
          <p:nvPr/>
        </p:nvSpPr>
        <p:spPr>
          <a:xfrm>
            <a:off x="476250" y="190500"/>
            <a:ext cx="342900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2026</a:t>
            </a:r>
            <a:endParaRPr lang="en-US" sz="1000" dirty="0"/>
          </a:p>
        </p:txBody>
      </p:sp>
      <p:sp>
        <p:nvSpPr>
          <p:cNvPr id="30" name="Text 10"/>
          <p:cNvSpPr/>
          <p:nvPr/>
        </p:nvSpPr>
        <p:spPr>
          <a:xfrm>
            <a:off x="4924425" y="190500"/>
            <a:ext cx="990600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- A.I. SUMMIT -</a:t>
            </a:r>
            <a:endParaRPr lang="en-US" sz="1000" dirty="0"/>
          </a:p>
        </p:txBody>
      </p:sp>
      <p:sp>
        <p:nvSpPr>
          <p:cNvPr id="31" name="Text 11"/>
          <p:cNvSpPr/>
          <p:nvPr/>
        </p:nvSpPr>
        <p:spPr>
          <a:xfrm>
            <a:off x="10020300" y="190500"/>
            <a:ext cx="1695450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Customer Churn Analysis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725" y="1657350"/>
            <a:ext cx="2390775" cy="752475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7500" y="1657350"/>
            <a:ext cx="2390775" cy="752475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725" y="2438400"/>
            <a:ext cx="4781550" cy="104775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81575" y="3209925"/>
            <a:ext cx="323850" cy="333375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6725" y="3514725"/>
            <a:ext cx="4781550" cy="1000125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81575" y="4238625"/>
            <a:ext cx="323850" cy="333375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6725" y="4543425"/>
            <a:ext cx="4781550" cy="85725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81575" y="5124450"/>
            <a:ext cx="323850" cy="333375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66725" y="5429250"/>
            <a:ext cx="4781550" cy="1000125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981575" y="6153150"/>
            <a:ext cx="323850" cy="333375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457825" y="2581275"/>
            <a:ext cx="590550" cy="66675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457825" y="2714625"/>
            <a:ext cx="6267450" cy="495300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514975" y="2771775"/>
            <a:ext cx="361950" cy="371475"/>
          </a:xfrm>
          <a:prstGeom prst="rect">
            <a:avLst/>
          </a:prstGeom>
        </p:spPr>
      </p:pic>
      <p:pic>
        <p:nvPicPr>
          <p:cNvPr id="17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457825" y="3209925"/>
            <a:ext cx="6267450" cy="495300"/>
          </a:xfrm>
          <a:prstGeom prst="rect">
            <a:avLst/>
          </a:prstGeom>
        </p:spPr>
      </p:pic>
      <p:pic>
        <p:nvPicPr>
          <p:cNvPr id="18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514975" y="3267075"/>
            <a:ext cx="361950" cy="371475"/>
          </a:xfrm>
          <a:prstGeom prst="rect">
            <a:avLst/>
          </a:prstGeom>
        </p:spPr>
      </p:pic>
      <p:pic>
        <p:nvPicPr>
          <p:cNvPr id="19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457825" y="3705225"/>
            <a:ext cx="6267450" cy="495300"/>
          </a:xfrm>
          <a:prstGeom prst="rect">
            <a:avLst/>
          </a:prstGeom>
        </p:spPr>
      </p:pic>
      <p:pic>
        <p:nvPicPr>
          <p:cNvPr id="20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514975" y="3762375"/>
            <a:ext cx="361950" cy="371475"/>
          </a:xfrm>
          <a:prstGeom prst="rect">
            <a:avLst/>
          </a:prstGeom>
        </p:spPr>
      </p:pic>
      <p:pic>
        <p:nvPicPr>
          <p:cNvPr id="21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457825" y="4200525"/>
            <a:ext cx="6267450" cy="495300"/>
          </a:xfrm>
          <a:prstGeom prst="rect">
            <a:avLst/>
          </a:prstGeom>
        </p:spPr>
      </p:pic>
      <p:pic>
        <p:nvPicPr>
          <p:cNvPr id="22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5514975" y="4257675"/>
            <a:ext cx="361950" cy="371475"/>
          </a:xfrm>
          <a:prstGeom prst="rect">
            <a:avLst/>
          </a:prstGeom>
        </p:spPr>
      </p:pic>
      <p:pic>
        <p:nvPicPr>
          <p:cNvPr id="23" name="Image 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5457825" y="4695825"/>
            <a:ext cx="6267450" cy="495300"/>
          </a:xfrm>
          <a:prstGeom prst="rect">
            <a:avLst/>
          </a:prstGeom>
        </p:spPr>
      </p:pic>
      <p:pic>
        <p:nvPicPr>
          <p:cNvPr id="24" name="Image 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5514975" y="4752975"/>
            <a:ext cx="361950" cy="371475"/>
          </a:xfrm>
          <a:prstGeom prst="rect">
            <a:avLst/>
          </a:prstGeom>
        </p:spPr>
      </p:pic>
      <p:pic>
        <p:nvPicPr>
          <p:cNvPr id="25" name="Image 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5457825" y="5191125"/>
            <a:ext cx="6267450" cy="495300"/>
          </a:xfrm>
          <a:prstGeom prst="rect">
            <a:avLst/>
          </a:prstGeom>
        </p:spPr>
      </p:pic>
      <p:pic>
        <p:nvPicPr>
          <p:cNvPr id="26" name="Image 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5514975" y="5248275"/>
            <a:ext cx="361950" cy="371475"/>
          </a:xfrm>
          <a:prstGeom prst="rect">
            <a:avLst/>
          </a:prstGeom>
        </p:spPr>
      </p:pic>
      <p:pic>
        <p:nvPicPr>
          <p:cNvPr id="27" name="Image 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5457825" y="5686425"/>
            <a:ext cx="6267450" cy="495300"/>
          </a:xfrm>
          <a:prstGeom prst="rect">
            <a:avLst/>
          </a:prstGeom>
        </p:spPr>
      </p:pic>
      <p:pic>
        <p:nvPicPr>
          <p:cNvPr id="28" name="Image 26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5514975" y="5743575"/>
            <a:ext cx="361950" cy="371475"/>
          </a:xfrm>
          <a:prstGeom prst="rect">
            <a:avLst/>
          </a:prstGeom>
        </p:spPr>
      </p:pic>
      <p:sp>
        <p:nvSpPr>
          <p:cNvPr id="29" name="Text 0"/>
          <p:cNvSpPr/>
          <p:nvPr/>
        </p:nvSpPr>
        <p:spPr>
          <a:xfrm>
            <a:off x="1116806" y="1747838"/>
            <a:ext cx="10858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Customers</a:t>
            </a:r>
            <a:endParaRPr lang="en-US" sz="800" dirty="0"/>
          </a:p>
        </p:txBody>
      </p:sp>
      <p:sp>
        <p:nvSpPr>
          <p:cNvPr id="30" name="Text 1"/>
          <p:cNvSpPr/>
          <p:nvPr/>
        </p:nvSpPr>
        <p:spPr>
          <a:xfrm>
            <a:off x="1321594" y="1919288"/>
            <a:ext cx="67627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7,043</a:t>
            </a:r>
            <a:endParaRPr lang="en-US" sz="1900" dirty="0"/>
          </a:p>
        </p:txBody>
      </p:sp>
      <p:sp>
        <p:nvSpPr>
          <p:cNvPr id="31" name="Text 2"/>
          <p:cNvSpPr/>
          <p:nvPr/>
        </p:nvSpPr>
        <p:spPr>
          <a:xfrm>
            <a:off x="3683794" y="1747838"/>
            <a:ext cx="7429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Churn Rate</a:t>
            </a:r>
            <a:endParaRPr lang="en-US" sz="800" dirty="0"/>
          </a:p>
        </p:txBody>
      </p:sp>
      <p:sp>
        <p:nvSpPr>
          <p:cNvPr id="32" name="Text 3"/>
          <p:cNvSpPr/>
          <p:nvPr/>
        </p:nvSpPr>
        <p:spPr>
          <a:xfrm>
            <a:off x="3783806" y="1919288"/>
            <a:ext cx="5429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27%</a:t>
            </a:r>
            <a:endParaRPr lang="en-US" sz="1900" dirty="0"/>
          </a:p>
        </p:txBody>
      </p:sp>
      <p:pic>
        <p:nvPicPr>
          <p:cNvPr id="33" name="Image 27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476250" y="2447925"/>
            <a:ext cx="4762500" cy="1066800"/>
          </a:xfrm>
          <a:prstGeom prst="rect">
            <a:avLst/>
          </a:prstGeom>
        </p:spPr>
      </p:pic>
      <p:pic>
        <p:nvPicPr>
          <p:cNvPr id="34" name="Image 28" descr="preencoded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476250" y="3524250"/>
            <a:ext cx="4762500" cy="1019175"/>
          </a:xfrm>
          <a:prstGeom prst="rect">
            <a:avLst/>
          </a:prstGeom>
        </p:spPr>
      </p:pic>
      <p:pic>
        <p:nvPicPr>
          <p:cNvPr id="35" name="Image 29" descr="preencoded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476250" y="4552950"/>
            <a:ext cx="4762500" cy="876300"/>
          </a:xfrm>
          <a:prstGeom prst="rect">
            <a:avLst/>
          </a:prstGeom>
        </p:spPr>
      </p:pic>
      <p:pic>
        <p:nvPicPr>
          <p:cNvPr id="36" name="Image 30" descr="preencoded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476250" y="5438775"/>
            <a:ext cx="4762500" cy="1019175"/>
          </a:xfrm>
          <a:prstGeom prst="rect">
            <a:avLst/>
          </a:prstGeom>
        </p:spPr>
      </p:pic>
      <p:sp>
        <p:nvSpPr>
          <p:cNvPr id="37" name="Text 4"/>
          <p:cNvSpPr/>
          <p:nvPr/>
        </p:nvSpPr>
        <p:spPr>
          <a:xfrm>
            <a:off x="5467350" y="2174081"/>
            <a:ext cx="62484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4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Components</a:t>
            </a:r>
            <a:endParaRPr lang="en-US" sz="1700" dirty="0"/>
          </a:p>
        </p:txBody>
      </p:sp>
      <p:pic>
        <p:nvPicPr>
          <p:cNvPr id="38" name="Image 31" descr="preencoded.png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5572125" y="2847975"/>
            <a:ext cx="247650" cy="219075"/>
          </a:xfrm>
          <a:prstGeom prst="rect">
            <a:avLst/>
          </a:prstGeom>
        </p:spPr>
      </p:pic>
      <p:sp>
        <p:nvSpPr>
          <p:cNvPr id="39" name="Text 5"/>
          <p:cNvSpPr/>
          <p:nvPr/>
        </p:nvSpPr>
        <p:spPr>
          <a:xfrm>
            <a:off x="5943600" y="2812256"/>
            <a:ext cx="8953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KPI Cards</a:t>
            </a:r>
            <a:endParaRPr lang="en-US" sz="1400" dirty="0"/>
          </a:p>
        </p:txBody>
      </p:sp>
      <p:pic>
        <p:nvPicPr>
          <p:cNvPr id="40" name="Image 32" descr="preencoded.png">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5591175" y="3343275"/>
            <a:ext cx="209550" cy="219075"/>
          </a:xfrm>
          <a:prstGeom prst="rect">
            <a:avLst/>
          </a:prstGeom>
        </p:spPr>
      </p:pic>
      <p:sp>
        <p:nvSpPr>
          <p:cNvPr id="41" name="Text 6"/>
          <p:cNvSpPr/>
          <p:nvPr/>
        </p:nvSpPr>
        <p:spPr>
          <a:xfrm>
            <a:off x="5943600" y="3307556"/>
            <a:ext cx="16954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Churn Rate Gauge</a:t>
            </a:r>
            <a:endParaRPr lang="en-US" sz="1400" dirty="0"/>
          </a:p>
        </p:txBody>
      </p:sp>
      <p:pic>
        <p:nvPicPr>
          <p:cNvPr id="42" name="Image 33" descr="preencoded.png">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5591175" y="3838575"/>
            <a:ext cx="209550" cy="219075"/>
          </a:xfrm>
          <a:prstGeom prst="rect">
            <a:avLst/>
          </a:prstGeom>
        </p:spPr>
      </p:pic>
      <p:sp>
        <p:nvSpPr>
          <p:cNvPr id="43" name="Text 7"/>
          <p:cNvSpPr/>
          <p:nvPr/>
        </p:nvSpPr>
        <p:spPr>
          <a:xfrm>
            <a:off x="5943600" y="3802856"/>
            <a:ext cx="220027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Contract Type Bar Chart</a:t>
            </a:r>
            <a:endParaRPr lang="en-US" sz="1400" dirty="0"/>
          </a:p>
        </p:txBody>
      </p:sp>
      <p:pic>
        <p:nvPicPr>
          <p:cNvPr id="44" name="Image 34" descr="preencoded.png">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5610225" y="4333875"/>
            <a:ext cx="171450" cy="219075"/>
          </a:xfrm>
          <a:prstGeom prst="rect">
            <a:avLst/>
          </a:prstGeom>
        </p:spPr>
      </p:pic>
      <p:sp>
        <p:nvSpPr>
          <p:cNvPr id="45" name="Text 8"/>
          <p:cNvSpPr/>
          <p:nvPr/>
        </p:nvSpPr>
        <p:spPr>
          <a:xfrm>
            <a:off x="5943600" y="4298156"/>
            <a:ext cx="1428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Tenure Analysis</a:t>
            </a:r>
            <a:endParaRPr lang="en-US" sz="1400" dirty="0"/>
          </a:p>
        </p:txBody>
      </p:sp>
      <p:pic>
        <p:nvPicPr>
          <p:cNvPr id="46" name="Image 35" descr="preencoded.png">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5591175" y="4829175"/>
            <a:ext cx="209550" cy="219075"/>
          </a:xfrm>
          <a:prstGeom prst="rect">
            <a:avLst/>
          </a:prstGeom>
        </p:spPr>
      </p:pic>
      <p:sp>
        <p:nvSpPr>
          <p:cNvPr id="47" name="Text 9"/>
          <p:cNvSpPr/>
          <p:nvPr/>
        </p:nvSpPr>
        <p:spPr>
          <a:xfrm>
            <a:off x="5943600" y="4793456"/>
            <a:ext cx="27241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Monthly Charges Comparison</a:t>
            </a:r>
            <a:endParaRPr lang="en-US" sz="1400" dirty="0"/>
          </a:p>
        </p:txBody>
      </p:sp>
      <p:pic>
        <p:nvPicPr>
          <p:cNvPr id="48" name="Image 36" descr="preencoded.png">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5591175" y="5324475"/>
            <a:ext cx="209550" cy="219075"/>
          </a:xfrm>
          <a:prstGeom prst="rect">
            <a:avLst/>
          </a:prstGeom>
        </p:spPr>
      </p:pic>
      <p:sp>
        <p:nvSpPr>
          <p:cNvPr id="49" name="Text 10"/>
          <p:cNvSpPr/>
          <p:nvPr/>
        </p:nvSpPr>
        <p:spPr>
          <a:xfrm>
            <a:off x="5943600" y="5288756"/>
            <a:ext cx="218122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Service Usage Heatmap</a:t>
            </a:r>
            <a:endParaRPr lang="en-US" sz="1400" dirty="0"/>
          </a:p>
        </p:txBody>
      </p:sp>
      <p:pic>
        <p:nvPicPr>
          <p:cNvPr id="50" name="Image 37" descr="preencoded.png">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5591175" y="5819775"/>
            <a:ext cx="209550" cy="219075"/>
          </a:xfrm>
          <a:prstGeom prst="rect">
            <a:avLst/>
          </a:prstGeom>
        </p:spPr>
      </p:pic>
      <p:sp>
        <p:nvSpPr>
          <p:cNvPr id="51" name="Text 11"/>
          <p:cNvSpPr/>
          <p:nvPr/>
        </p:nvSpPr>
        <p:spPr>
          <a:xfrm>
            <a:off x="5943600" y="5784056"/>
            <a:ext cx="223837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Interactive Filters/Slicers</a:t>
            </a:r>
            <a:endParaRPr lang="en-US" sz="1400" dirty="0"/>
          </a:p>
        </p:txBody>
      </p:sp>
      <p:sp>
        <p:nvSpPr>
          <p:cNvPr id="52" name="Text 12"/>
          <p:cNvSpPr/>
          <p:nvPr/>
        </p:nvSpPr>
        <p:spPr>
          <a:xfrm>
            <a:off x="476250" y="190500"/>
            <a:ext cx="342900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2026</a:t>
            </a:r>
            <a:endParaRPr lang="en-US" sz="1000" dirty="0"/>
          </a:p>
        </p:txBody>
      </p:sp>
      <p:sp>
        <p:nvSpPr>
          <p:cNvPr id="53" name="Text 13"/>
          <p:cNvSpPr/>
          <p:nvPr/>
        </p:nvSpPr>
        <p:spPr>
          <a:xfrm>
            <a:off x="4924425" y="190500"/>
            <a:ext cx="990600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- A.I. SUMMIT -</a:t>
            </a:r>
            <a:endParaRPr lang="en-US" sz="1000" dirty="0"/>
          </a:p>
        </p:txBody>
      </p:sp>
      <p:sp>
        <p:nvSpPr>
          <p:cNvPr id="54" name="Text 14"/>
          <p:cNvSpPr/>
          <p:nvPr/>
        </p:nvSpPr>
        <p:spPr>
          <a:xfrm>
            <a:off x="10020300" y="190500"/>
            <a:ext cx="1695450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Customer Churn Analysis</a:t>
            </a:r>
            <a:endParaRPr lang="en-US" sz="1000" dirty="0"/>
          </a:p>
        </p:txBody>
      </p:sp>
      <p:sp>
        <p:nvSpPr>
          <p:cNvPr id="55" name="Text 15"/>
          <p:cNvSpPr/>
          <p:nvPr/>
        </p:nvSpPr>
        <p:spPr>
          <a:xfrm>
            <a:off x="476250" y="700088"/>
            <a:ext cx="112395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Dashboard Visualizations</a:t>
            </a:r>
            <a:endParaRPr lang="en-US" sz="3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" y="3838575"/>
            <a:ext cx="2095500" cy="12382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38450" y="3838575"/>
            <a:ext cx="2095500" cy="123825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8250" y="3838575"/>
            <a:ext cx="2095500" cy="123825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58050" y="3838575"/>
            <a:ext cx="2095500" cy="123825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67850" y="3838575"/>
            <a:ext cx="2095500" cy="123825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23975" y="3009900"/>
            <a:ext cx="9544050" cy="1933575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71575" y="2800350"/>
            <a:ext cx="1009650" cy="1114425"/>
          </a:xfrm>
          <a:prstGeom prst="rect">
            <a:avLst/>
          </a:prstGeom>
        </p:spPr>
      </p:pic>
      <p:sp>
        <p:nvSpPr>
          <p:cNvPr id="11" name="Text 0"/>
          <p:cNvSpPr/>
          <p:nvPr/>
        </p:nvSpPr>
        <p:spPr>
          <a:xfrm>
            <a:off x="1295400" y="2931319"/>
            <a:ext cx="76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highlight>
                  <a:srgbClr val="0048FF"/>
                </a:highlight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2200" dirty="0"/>
          </a:p>
        </p:txBody>
      </p:sp>
      <p:sp>
        <p:nvSpPr>
          <p:cNvPr id="12" name="Text 1"/>
          <p:cNvSpPr/>
          <p:nvPr/>
        </p:nvSpPr>
        <p:spPr>
          <a:xfrm>
            <a:off x="819150" y="4241006"/>
            <a:ext cx="17145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Encourage long-term contracts</a:t>
            </a:r>
            <a:endParaRPr lang="en-US" sz="1200" dirty="0"/>
          </a:p>
        </p:txBody>
      </p:sp>
      <p:pic>
        <p:nvPicPr>
          <p:cNvPr id="13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381375" y="2800350"/>
            <a:ext cx="1009650" cy="1114425"/>
          </a:xfrm>
          <a:prstGeom prst="rect">
            <a:avLst/>
          </a:prstGeom>
        </p:spPr>
      </p:pic>
      <p:sp>
        <p:nvSpPr>
          <p:cNvPr id="14" name="Text 2"/>
          <p:cNvSpPr/>
          <p:nvPr/>
        </p:nvSpPr>
        <p:spPr>
          <a:xfrm>
            <a:off x="3505200" y="2931319"/>
            <a:ext cx="76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highlight>
                  <a:srgbClr val="0048FF"/>
                </a:highlight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2200" dirty="0"/>
          </a:p>
        </p:txBody>
      </p:sp>
      <p:sp>
        <p:nvSpPr>
          <p:cNvPr id="15" name="Text 3"/>
          <p:cNvSpPr/>
          <p:nvPr/>
        </p:nvSpPr>
        <p:spPr>
          <a:xfrm>
            <a:off x="3028950" y="4133850"/>
            <a:ext cx="1714500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Improve onboarding for new customers</a:t>
            </a:r>
            <a:endParaRPr lang="en-US" sz="1200" dirty="0"/>
          </a:p>
        </p:txBody>
      </p:sp>
      <p:pic>
        <p:nvPicPr>
          <p:cNvPr id="16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591175" y="2800350"/>
            <a:ext cx="1009650" cy="1114425"/>
          </a:xfrm>
          <a:prstGeom prst="rect">
            <a:avLst/>
          </a:prstGeom>
        </p:spPr>
      </p:pic>
      <p:sp>
        <p:nvSpPr>
          <p:cNvPr id="17" name="Text 4"/>
          <p:cNvSpPr/>
          <p:nvPr/>
        </p:nvSpPr>
        <p:spPr>
          <a:xfrm>
            <a:off x="5715000" y="2931319"/>
            <a:ext cx="76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highlight>
                  <a:srgbClr val="0048FF"/>
                </a:highlight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5"/>
          <p:cNvSpPr/>
          <p:nvPr/>
        </p:nvSpPr>
        <p:spPr>
          <a:xfrm>
            <a:off x="5238750" y="4241006"/>
            <a:ext cx="17145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Bundle support-related services</a:t>
            </a:r>
            <a:endParaRPr lang="en-US" sz="1200" dirty="0"/>
          </a:p>
        </p:txBody>
      </p:sp>
      <p:pic>
        <p:nvPicPr>
          <p:cNvPr id="19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800975" y="2800350"/>
            <a:ext cx="1009650" cy="1114425"/>
          </a:xfrm>
          <a:prstGeom prst="rect">
            <a:avLst/>
          </a:prstGeom>
        </p:spPr>
      </p:pic>
      <p:sp>
        <p:nvSpPr>
          <p:cNvPr id="20" name="Text 6"/>
          <p:cNvSpPr/>
          <p:nvPr/>
        </p:nvSpPr>
        <p:spPr>
          <a:xfrm>
            <a:off x="7924800" y="2931319"/>
            <a:ext cx="76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highlight>
                  <a:srgbClr val="0048FF"/>
                </a:highlight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2200" dirty="0"/>
          </a:p>
        </p:txBody>
      </p:sp>
      <p:sp>
        <p:nvSpPr>
          <p:cNvPr id="21" name="Text 7"/>
          <p:cNvSpPr/>
          <p:nvPr/>
        </p:nvSpPr>
        <p:spPr>
          <a:xfrm>
            <a:off x="7448550" y="4241006"/>
            <a:ext cx="17145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Reward high-value customers</a:t>
            </a:r>
            <a:endParaRPr lang="en-US" sz="1200" dirty="0"/>
          </a:p>
        </p:txBody>
      </p:sp>
      <p:pic>
        <p:nvPicPr>
          <p:cNvPr id="22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010775" y="2800350"/>
            <a:ext cx="1009650" cy="1114425"/>
          </a:xfrm>
          <a:prstGeom prst="rect">
            <a:avLst/>
          </a:prstGeom>
        </p:spPr>
      </p:pic>
      <p:sp>
        <p:nvSpPr>
          <p:cNvPr id="23" name="Text 8"/>
          <p:cNvSpPr/>
          <p:nvPr/>
        </p:nvSpPr>
        <p:spPr>
          <a:xfrm>
            <a:off x="10134600" y="2931319"/>
            <a:ext cx="76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highlight>
                  <a:srgbClr val="0048FF"/>
                </a:highlight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2200" dirty="0"/>
          </a:p>
        </p:txBody>
      </p:sp>
      <p:sp>
        <p:nvSpPr>
          <p:cNvPr id="24" name="Text 9"/>
          <p:cNvSpPr/>
          <p:nvPr/>
        </p:nvSpPr>
        <p:spPr>
          <a:xfrm>
            <a:off x="9658350" y="4241006"/>
            <a:ext cx="17145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Promote automatic payment methods</a:t>
            </a:r>
            <a:endParaRPr lang="en-US" sz="1200" dirty="0"/>
          </a:p>
        </p:txBody>
      </p:sp>
      <p:sp>
        <p:nvSpPr>
          <p:cNvPr id="25" name="Text 10"/>
          <p:cNvSpPr/>
          <p:nvPr/>
        </p:nvSpPr>
        <p:spPr>
          <a:xfrm>
            <a:off x="476250" y="190500"/>
            <a:ext cx="342900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2026</a:t>
            </a:r>
            <a:endParaRPr lang="en-US" sz="1000" dirty="0"/>
          </a:p>
        </p:txBody>
      </p:sp>
      <p:sp>
        <p:nvSpPr>
          <p:cNvPr id="26" name="Text 11"/>
          <p:cNvSpPr/>
          <p:nvPr/>
        </p:nvSpPr>
        <p:spPr>
          <a:xfrm>
            <a:off x="4924425" y="190500"/>
            <a:ext cx="990600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- A.I. SUMMIT -</a:t>
            </a:r>
            <a:endParaRPr lang="en-US" sz="1000" dirty="0"/>
          </a:p>
        </p:txBody>
      </p:sp>
      <p:sp>
        <p:nvSpPr>
          <p:cNvPr id="27" name="Text 12"/>
          <p:cNvSpPr/>
          <p:nvPr/>
        </p:nvSpPr>
        <p:spPr>
          <a:xfrm>
            <a:off x="10020300" y="190500"/>
            <a:ext cx="1695450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Customer Churn Analysis</a:t>
            </a:r>
            <a:endParaRPr lang="en-US" sz="1000" dirty="0"/>
          </a:p>
        </p:txBody>
      </p:sp>
      <p:sp>
        <p:nvSpPr>
          <p:cNvPr id="28" name="Text 13"/>
          <p:cNvSpPr/>
          <p:nvPr/>
        </p:nvSpPr>
        <p:spPr>
          <a:xfrm>
            <a:off x="476250" y="700088"/>
            <a:ext cx="112395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Recommendations</a:t>
            </a:r>
            <a:endParaRPr lang="en-US" sz="3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3705225"/>
            <a:ext cx="3648075" cy="3152775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57725" y="2895600"/>
            <a:ext cx="2876550" cy="5715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76950" y="3686175"/>
            <a:ext cx="38100" cy="1457325"/>
          </a:xfrm>
          <a:prstGeom prst="rect">
            <a:avLst/>
          </a:prstGeom>
        </p:spPr>
      </p:pic>
      <p:sp>
        <p:nvSpPr>
          <p:cNvPr id="8" name="Text 0"/>
          <p:cNvSpPr/>
          <p:nvPr/>
        </p:nvSpPr>
        <p:spPr>
          <a:xfrm>
            <a:off x="476250" y="190500"/>
            <a:ext cx="342900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2026</a:t>
            </a:r>
            <a:endParaRPr lang="en-US" sz="1000" dirty="0"/>
          </a:p>
        </p:txBody>
      </p:sp>
      <p:sp>
        <p:nvSpPr>
          <p:cNvPr id="9" name="Text 1"/>
          <p:cNvSpPr/>
          <p:nvPr/>
        </p:nvSpPr>
        <p:spPr>
          <a:xfrm>
            <a:off x="4924425" y="190500"/>
            <a:ext cx="990600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- A.I. SUMMIT -</a:t>
            </a:r>
            <a:endParaRPr lang="en-US" sz="1000" dirty="0"/>
          </a:p>
        </p:txBody>
      </p:sp>
      <p:sp>
        <p:nvSpPr>
          <p:cNvPr id="10" name="Text 2"/>
          <p:cNvSpPr/>
          <p:nvPr/>
        </p:nvSpPr>
        <p:spPr>
          <a:xfrm>
            <a:off x="10020300" y="190500"/>
            <a:ext cx="1695450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Customer Churn Analysis</a:t>
            </a:r>
            <a:endParaRPr lang="en-US" sz="1000" dirty="0"/>
          </a:p>
        </p:txBody>
      </p:sp>
      <p:sp>
        <p:nvSpPr>
          <p:cNvPr id="11" name="Text 3"/>
          <p:cNvSpPr/>
          <p:nvPr/>
        </p:nvSpPr>
        <p:spPr>
          <a:xfrm>
            <a:off x="3014663" y="1578769"/>
            <a:ext cx="616267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Conclusion</a:t>
            </a:r>
            <a:endParaRPr lang="en-US" sz="8500" dirty="0"/>
          </a:p>
        </p:txBody>
      </p:sp>
      <p:sp>
        <p:nvSpPr>
          <p:cNvPr id="12" name="Text 4"/>
          <p:cNvSpPr/>
          <p:nvPr/>
        </p:nvSpPr>
        <p:spPr>
          <a:xfrm>
            <a:off x="1891159" y="3321844"/>
            <a:ext cx="259467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Final Summary</a:t>
            </a:r>
            <a:endParaRPr lang="en-US" sz="1900" dirty="0"/>
          </a:p>
        </p:txBody>
      </p:sp>
      <p:sp>
        <p:nvSpPr>
          <p:cNvPr id="13" name="Text 5"/>
          <p:cNvSpPr/>
          <p:nvPr/>
        </p:nvSpPr>
        <p:spPr>
          <a:xfrm>
            <a:off x="857250" y="3912394"/>
            <a:ext cx="4662488" cy="10215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Contract type, tenure, monthly charges, and support services strongly influence customer retention.</a:t>
            </a:r>
            <a:endParaRPr lang="en-US" sz="1500" dirty="0"/>
          </a:p>
        </p:txBody>
      </p:sp>
      <p:sp>
        <p:nvSpPr>
          <p:cNvPr id="14" name="Text 6"/>
          <p:cNvSpPr/>
          <p:nvPr/>
        </p:nvSpPr>
        <p:spPr>
          <a:xfrm>
            <a:off x="7603331" y="3321844"/>
            <a:ext cx="28003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Business Impact</a:t>
            </a:r>
            <a:endParaRPr lang="en-US" sz="1900" dirty="0"/>
          </a:p>
        </p:txBody>
      </p:sp>
      <p:sp>
        <p:nvSpPr>
          <p:cNvPr id="15" name="Text 7"/>
          <p:cNvSpPr/>
          <p:nvPr/>
        </p:nvSpPr>
        <p:spPr>
          <a:xfrm>
            <a:off x="7317581" y="3912394"/>
            <a:ext cx="3371850" cy="3405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Reduce customer loss</a:t>
            </a:r>
            <a:endParaRPr lang="en-US" sz="1500" dirty="0"/>
          </a:p>
        </p:txBody>
      </p:sp>
      <p:sp>
        <p:nvSpPr>
          <p:cNvPr id="16" name="Text 8"/>
          <p:cNvSpPr/>
          <p:nvPr/>
        </p:nvSpPr>
        <p:spPr>
          <a:xfrm>
            <a:off x="7317581" y="4329113"/>
            <a:ext cx="3371850" cy="3405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Improve customer satisfaction</a:t>
            </a:r>
            <a:endParaRPr lang="en-US" sz="1500" dirty="0"/>
          </a:p>
        </p:txBody>
      </p:sp>
      <p:sp>
        <p:nvSpPr>
          <p:cNvPr id="17" name="Text 9"/>
          <p:cNvSpPr/>
          <p:nvPr/>
        </p:nvSpPr>
        <p:spPr>
          <a:xfrm>
            <a:off x="7317581" y="4745831"/>
            <a:ext cx="3371850" cy="3405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Increase long-term revenue</a:t>
            </a:r>
            <a:endParaRPr lang="en-US" sz="1500" dirty="0"/>
          </a:p>
        </p:txBody>
      </p:sp>
      <p:sp>
        <p:nvSpPr>
          <p:cNvPr id="18" name="Text 10"/>
          <p:cNvSpPr/>
          <p:nvPr/>
        </p:nvSpPr>
        <p:spPr>
          <a:xfrm>
            <a:off x="7317581" y="5162550"/>
            <a:ext cx="3371850" cy="3405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Build targeted retention programs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dokie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>PptxGenJS Presentation</dc:subject>
  <dc:creator>dokie</dc:creator>
  <cp:lastModifiedBy>dokie</cp:lastModifiedBy>
  <cp:revision>1</cp:revision>
  <dcterms:created xsi:type="dcterms:W3CDTF">2026-05-11T19:45:46Z</dcterms:created>
  <dcterms:modified xsi:type="dcterms:W3CDTF">2026-05-11T19:45:46Z</dcterms:modified>
</cp:coreProperties>
</file>